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8" r:id="rId5"/>
    <p:sldId id="257" r:id="rId6"/>
    <p:sldId id="262" r:id="rId7"/>
    <p:sldId id="259" r:id="rId8"/>
    <p:sldId id="260" r:id="rId9"/>
    <p:sldId id="261" r:id="rId10"/>
  </p:sldIdLst>
  <p:sldSz cx="9875838" cy="12344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1220"/>
    <a:srgbClr val="0B11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6" autoAdjust="0"/>
    <p:restoredTop sz="94660"/>
  </p:normalViewPr>
  <p:slideViewPr>
    <p:cSldViewPr snapToGrid="0">
      <p:cViewPr varScale="1">
        <p:scale>
          <a:sx n="55" d="100"/>
          <a:sy n="55" d="100"/>
        </p:scale>
        <p:origin x="20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0688" y="2020253"/>
            <a:ext cx="8394462" cy="4297680"/>
          </a:xfrm>
        </p:spPr>
        <p:txBody>
          <a:bodyPr anchor="b"/>
          <a:lstStyle>
            <a:lvl1pPr algn="ctr">
              <a:defRPr sz="6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4480" y="6483668"/>
            <a:ext cx="7406879" cy="2980372"/>
          </a:xfrm>
        </p:spPr>
        <p:txBody>
          <a:bodyPr/>
          <a:lstStyle>
            <a:lvl1pPr marL="0" indent="0" algn="ctr">
              <a:buNone/>
              <a:defRPr sz="2592"/>
            </a:lvl1pPr>
            <a:lvl2pPr marL="493776" indent="0" algn="ctr">
              <a:buNone/>
              <a:defRPr sz="2160"/>
            </a:lvl2pPr>
            <a:lvl3pPr marL="987552" indent="0" algn="ctr">
              <a:buNone/>
              <a:defRPr sz="1944"/>
            </a:lvl3pPr>
            <a:lvl4pPr marL="1481328" indent="0" algn="ctr">
              <a:buNone/>
              <a:defRPr sz="1728"/>
            </a:lvl4pPr>
            <a:lvl5pPr marL="1975104" indent="0" algn="ctr">
              <a:buNone/>
              <a:defRPr sz="1728"/>
            </a:lvl5pPr>
            <a:lvl6pPr marL="2468880" indent="0" algn="ctr">
              <a:buNone/>
              <a:defRPr sz="1728"/>
            </a:lvl6pPr>
            <a:lvl7pPr marL="2962656" indent="0" algn="ctr">
              <a:buNone/>
              <a:defRPr sz="1728"/>
            </a:lvl7pPr>
            <a:lvl8pPr marL="3456432" indent="0" algn="ctr">
              <a:buNone/>
              <a:defRPr sz="1728"/>
            </a:lvl8pPr>
            <a:lvl9pPr marL="3950208" indent="0" algn="ctr">
              <a:buNone/>
              <a:defRPr sz="172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C6FF6-D176-4D8D-A14A-2A0B61945A60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F6B8-1B1E-4B68-8601-931609F15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995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C6FF6-D176-4D8D-A14A-2A0B61945A60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F6B8-1B1E-4B68-8601-931609F15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831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3821" y="3077531"/>
            <a:ext cx="8517910" cy="5134927"/>
          </a:xfrm>
        </p:spPr>
        <p:txBody>
          <a:bodyPr anchor="b"/>
          <a:lstStyle>
            <a:lvl1pPr>
              <a:defRPr sz="6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3821" y="8261036"/>
            <a:ext cx="8517910" cy="2700337"/>
          </a:xfrm>
        </p:spPr>
        <p:txBody>
          <a:bodyPr/>
          <a:lstStyle>
            <a:lvl1pPr marL="0" indent="0">
              <a:buNone/>
              <a:defRPr sz="2592">
                <a:solidFill>
                  <a:schemeClr val="tx1">
                    <a:tint val="82000"/>
                  </a:schemeClr>
                </a:solidFill>
              </a:defRPr>
            </a:lvl1pPr>
            <a:lvl2pPr marL="493776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2pPr>
            <a:lvl3pPr marL="987552" indent="0">
              <a:buNone/>
              <a:defRPr sz="1944">
                <a:solidFill>
                  <a:schemeClr val="tx1">
                    <a:tint val="82000"/>
                  </a:schemeClr>
                </a:solidFill>
              </a:defRPr>
            </a:lvl3pPr>
            <a:lvl4pPr marL="1481328" indent="0">
              <a:buNone/>
              <a:defRPr sz="1728">
                <a:solidFill>
                  <a:schemeClr val="tx1">
                    <a:tint val="82000"/>
                  </a:schemeClr>
                </a:solidFill>
              </a:defRPr>
            </a:lvl4pPr>
            <a:lvl5pPr marL="1975104" indent="0">
              <a:buNone/>
              <a:defRPr sz="1728">
                <a:solidFill>
                  <a:schemeClr val="tx1">
                    <a:tint val="82000"/>
                  </a:schemeClr>
                </a:solidFill>
              </a:defRPr>
            </a:lvl5pPr>
            <a:lvl6pPr marL="2468880" indent="0">
              <a:buNone/>
              <a:defRPr sz="1728">
                <a:solidFill>
                  <a:schemeClr val="tx1">
                    <a:tint val="82000"/>
                  </a:schemeClr>
                </a:solidFill>
              </a:defRPr>
            </a:lvl6pPr>
            <a:lvl7pPr marL="2962656" indent="0">
              <a:buNone/>
              <a:defRPr sz="1728">
                <a:solidFill>
                  <a:schemeClr val="tx1">
                    <a:tint val="82000"/>
                  </a:schemeClr>
                </a:solidFill>
              </a:defRPr>
            </a:lvl7pPr>
            <a:lvl8pPr marL="3456432" indent="0">
              <a:buNone/>
              <a:defRPr sz="1728">
                <a:solidFill>
                  <a:schemeClr val="tx1">
                    <a:tint val="82000"/>
                  </a:schemeClr>
                </a:solidFill>
              </a:defRPr>
            </a:lvl8pPr>
            <a:lvl9pPr marL="3950208" indent="0">
              <a:buNone/>
              <a:defRPr sz="172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C6FF6-D176-4D8D-A14A-2A0B61945A60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F6B8-1B1E-4B68-8601-931609F15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327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8964" y="3286125"/>
            <a:ext cx="4197231" cy="7832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9643" y="3286125"/>
            <a:ext cx="4197231" cy="7832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C6FF6-D176-4D8D-A14A-2A0B61945A60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F6B8-1B1E-4B68-8601-931609F15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461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250" y="657228"/>
            <a:ext cx="8517910" cy="23860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251" y="3026093"/>
            <a:ext cx="4177942" cy="1483042"/>
          </a:xfrm>
        </p:spPr>
        <p:txBody>
          <a:bodyPr anchor="b"/>
          <a:lstStyle>
            <a:lvl1pPr marL="0" indent="0">
              <a:buNone/>
              <a:defRPr sz="2592" b="1"/>
            </a:lvl1pPr>
            <a:lvl2pPr marL="493776" indent="0">
              <a:buNone/>
              <a:defRPr sz="2160" b="1"/>
            </a:lvl2pPr>
            <a:lvl3pPr marL="987552" indent="0">
              <a:buNone/>
              <a:defRPr sz="1944" b="1"/>
            </a:lvl3pPr>
            <a:lvl4pPr marL="1481328" indent="0">
              <a:buNone/>
              <a:defRPr sz="1728" b="1"/>
            </a:lvl4pPr>
            <a:lvl5pPr marL="1975104" indent="0">
              <a:buNone/>
              <a:defRPr sz="1728" b="1"/>
            </a:lvl5pPr>
            <a:lvl6pPr marL="2468880" indent="0">
              <a:buNone/>
              <a:defRPr sz="1728" b="1"/>
            </a:lvl6pPr>
            <a:lvl7pPr marL="2962656" indent="0">
              <a:buNone/>
              <a:defRPr sz="1728" b="1"/>
            </a:lvl7pPr>
            <a:lvl8pPr marL="3456432" indent="0">
              <a:buNone/>
              <a:defRPr sz="1728" b="1"/>
            </a:lvl8pPr>
            <a:lvl9pPr marL="3950208" indent="0">
              <a:buNone/>
              <a:defRPr sz="172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251" y="4509135"/>
            <a:ext cx="4177942" cy="66322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99644" y="3026093"/>
            <a:ext cx="4198517" cy="1483042"/>
          </a:xfrm>
        </p:spPr>
        <p:txBody>
          <a:bodyPr anchor="b"/>
          <a:lstStyle>
            <a:lvl1pPr marL="0" indent="0">
              <a:buNone/>
              <a:defRPr sz="2592" b="1"/>
            </a:lvl1pPr>
            <a:lvl2pPr marL="493776" indent="0">
              <a:buNone/>
              <a:defRPr sz="2160" b="1"/>
            </a:lvl2pPr>
            <a:lvl3pPr marL="987552" indent="0">
              <a:buNone/>
              <a:defRPr sz="1944" b="1"/>
            </a:lvl3pPr>
            <a:lvl4pPr marL="1481328" indent="0">
              <a:buNone/>
              <a:defRPr sz="1728" b="1"/>
            </a:lvl4pPr>
            <a:lvl5pPr marL="1975104" indent="0">
              <a:buNone/>
              <a:defRPr sz="1728" b="1"/>
            </a:lvl5pPr>
            <a:lvl6pPr marL="2468880" indent="0">
              <a:buNone/>
              <a:defRPr sz="1728" b="1"/>
            </a:lvl6pPr>
            <a:lvl7pPr marL="2962656" indent="0">
              <a:buNone/>
              <a:defRPr sz="1728" b="1"/>
            </a:lvl7pPr>
            <a:lvl8pPr marL="3456432" indent="0">
              <a:buNone/>
              <a:defRPr sz="1728" b="1"/>
            </a:lvl8pPr>
            <a:lvl9pPr marL="3950208" indent="0">
              <a:buNone/>
              <a:defRPr sz="172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99644" y="4509135"/>
            <a:ext cx="4198517" cy="66322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C6FF6-D176-4D8D-A14A-2A0B61945A60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F6B8-1B1E-4B68-8601-931609F15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372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C6FF6-D176-4D8D-A14A-2A0B61945A60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F6B8-1B1E-4B68-8601-931609F15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01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C6FF6-D176-4D8D-A14A-2A0B61945A60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F6B8-1B1E-4B68-8601-931609F15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133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250" y="822960"/>
            <a:ext cx="3185215" cy="2880360"/>
          </a:xfrm>
        </p:spPr>
        <p:txBody>
          <a:bodyPr anchor="b"/>
          <a:lstStyle>
            <a:lvl1pPr>
              <a:defRPr sz="34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8517" y="1777368"/>
            <a:ext cx="4999643" cy="8772525"/>
          </a:xfrm>
        </p:spPr>
        <p:txBody>
          <a:bodyPr/>
          <a:lstStyle>
            <a:lvl1pPr>
              <a:defRPr sz="3456"/>
            </a:lvl1pPr>
            <a:lvl2pPr>
              <a:defRPr sz="3024"/>
            </a:lvl2pPr>
            <a:lvl3pPr>
              <a:defRPr sz="2592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250" y="3703320"/>
            <a:ext cx="3185215" cy="6860858"/>
          </a:xfrm>
        </p:spPr>
        <p:txBody>
          <a:bodyPr/>
          <a:lstStyle>
            <a:lvl1pPr marL="0" indent="0">
              <a:buNone/>
              <a:defRPr sz="1728"/>
            </a:lvl1pPr>
            <a:lvl2pPr marL="493776" indent="0">
              <a:buNone/>
              <a:defRPr sz="1512"/>
            </a:lvl2pPr>
            <a:lvl3pPr marL="987552" indent="0">
              <a:buNone/>
              <a:defRPr sz="1296"/>
            </a:lvl3pPr>
            <a:lvl4pPr marL="1481328" indent="0">
              <a:buNone/>
              <a:defRPr sz="1080"/>
            </a:lvl4pPr>
            <a:lvl5pPr marL="1975104" indent="0">
              <a:buNone/>
              <a:defRPr sz="1080"/>
            </a:lvl5pPr>
            <a:lvl6pPr marL="2468880" indent="0">
              <a:buNone/>
              <a:defRPr sz="1080"/>
            </a:lvl6pPr>
            <a:lvl7pPr marL="2962656" indent="0">
              <a:buNone/>
              <a:defRPr sz="1080"/>
            </a:lvl7pPr>
            <a:lvl8pPr marL="3456432" indent="0">
              <a:buNone/>
              <a:defRPr sz="1080"/>
            </a:lvl8pPr>
            <a:lvl9pPr marL="3950208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C6FF6-D176-4D8D-A14A-2A0B61945A60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F6B8-1B1E-4B68-8601-931609F15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840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250" y="822960"/>
            <a:ext cx="3185215" cy="2880360"/>
          </a:xfrm>
        </p:spPr>
        <p:txBody>
          <a:bodyPr anchor="b"/>
          <a:lstStyle>
            <a:lvl1pPr>
              <a:defRPr sz="34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98517" y="1777368"/>
            <a:ext cx="4999643" cy="8772525"/>
          </a:xfrm>
        </p:spPr>
        <p:txBody>
          <a:bodyPr anchor="t"/>
          <a:lstStyle>
            <a:lvl1pPr marL="0" indent="0">
              <a:buNone/>
              <a:defRPr sz="3456"/>
            </a:lvl1pPr>
            <a:lvl2pPr marL="493776" indent="0">
              <a:buNone/>
              <a:defRPr sz="3024"/>
            </a:lvl2pPr>
            <a:lvl3pPr marL="987552" indent="0">
              <a:buNone/>
              <a:defRPr sz="2592"/>
            </a:lvl3pPr>
            <a:lvl4pPr marL="1481328" indent="0">
              <a:buNone/>
              <a:defRPr sz="2160"/>
            </a:lvl4pPr>
            <a:lvl5pPr marL="1975104" indent="0">
              <a:buNone/>
              <a:defRPr sz="2160"/>
            </a:lvl5pPr>
            <a:lvl6pPr marL="2468880" indent="0">
              <a:buNone/>
              <a:defRPr sz="2160"/>
            </a:lvl6pPr>
            <a:lvl7pPr marL="2962656" indent="0">
              <a:buNone/>
              <a:defRPr sz="2160"/>
            </a:lvl7pPr>
            <a:lvl8pPr marL="3456432" indent="0">
              <a:buNone/>
              <a:defRPr sz="2160"/>
            </a:lvl8pPr>
            <a:lvl9pPr marL="3950208" indent="0">
              <a:buNone/>
              <a:defRPr sz="21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250" y="3703320"/>
            <a:ext cx="3185215" cy="6860858"/>
          </a:xfrm>
        </p:spPr>
        <p:txBody>
          <a:bodyPr/>
          <a:lstStyle>
            <a:lvl1pPr marL="0" indent="0">
              <a:buNone/>
              <a:defRPr sz="1728"/>
            </a:lvl1pPr>
            <a:lvl2pPr marL="493776" indent="0">
              <a:buNone/>
              <a:defRPr sz="1512"/>
            </a:lvl2pPr>
            <a:lvl3pPr marL="987552" indent="0">
              <a:buNone/>
              <a:defRPr sz="1296"/>
            </a:lvl3pPr>
            <a:lvl4pPr marL="1481328" indent="0">
              <a:buNone/>
              <a:defRPr sz="1080"/>
            </a:lvl4pPr>
            <a:lvl5pPr marL="1975104" indent="0">
              <a:buNone/>
              <a:defRPr sz="1080"/>
            </a:lvl5pPr>
            <a:lvl6pPr marL="2468880" indent="0">
              <a:buNone/>
              <a:defRPr sz="1080"/>
            </a:lvl6pPr>
            <a:lvl7pPr marL="2962656" indent="0">
              <a:buNone/>
              <a:defRPr sz="1080"/>
            </a:lvl7pPr>
            <a:lvl8pPr marL="3456432" indent="0">
              <a:buNone/>
              <a:defRPr sz="1080"/>
            </a:lvl8pPr>
            <a:lvl9pPr marL="3950208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C6FF6-D176-4D8D-A14A-2A0B61945A60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F6B8-1B1E-4B68-8601-931609F15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511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C6FF6-D176-4D8D-A14A-2A0B61945A60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F6B8-1B1E-4B68-8601-931609F15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661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67397" y="657225"/>
            <a:ext cx="2129478" cy="1046130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8964" y="657225"/>
            <a:ext cx="6264985" cy="1046130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C6FF6-D176-4D8D-A14A-2A0B61945A60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F6B8-1B1E-4B68-8601-931609F15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758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964" y="657228"/>
            <a:ext cx="8517910" cy="23860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964" y="3286125"/>
            <a:ext cx="8517910" cy="7832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8964" y="11441433"/>
            <a:ext cx="2222064" cy="6572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9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AC6FF6-D176-4D8D-A14A-2A0B61945A60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71372" y="11441433"/>
            <a:ext cx="3333095" cy="6572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9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74810" y="11441433"/>
            <a:ext cx="2222064" cy="6572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9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DAF6B8-1B1E-4B68-8601-931609F15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839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87552" rtl="0" eaLnBrk="1" latinLnBrk="0" hangingPunct="1">
        <a:lnSpc>
          <a:spcPct val="90000"/>
        </a:lnSpc>
        <a:spcBef>
          <a:spcPct val="0"/>
        </a:spcBef>
        <a:buNone/>
        <a:defRPr sz="475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6888" indent="-246888" algn="l" defTabSz="987552" rtl="0" eaLnBrk="1" latinLnBrk="0" hangingPunct="1">
        <a:lnSpc>
          <a:spcPct val="90000"/>
        </a:lnSpc>
        <a:spcBef>
          <a:spcPts val="1080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2592" kern="1200">
          <a:solidFill>
            <a:schemeClr val="tx1"/>
          </a:solidFill>
          <a:latin typeface="+mn-lt"/>
          <a:ea typeface="+mn-ea"/>
          <a:cs typeface="+mn-cs"/>
        </a:defRPr>
      </a:lvl2pPr>
      <a:lvl3pPr marL="1234440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728216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4pPr>
      <a:lvl5pPr marL="2221992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5pPr>
      <a:lvl6pPr marL="2715768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6pPr>
      <a:lvl7pPr marL="3209544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7pPr>
      <a:lvl8pPr marL="3703320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8pPr>
      <a:lvl9pPr marL="4197096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2pPr>
      <a:lvl3pPr marL="987552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3pPr>
      <a:lvl4pPr marL="1481328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4pPr>
      <a:lvl5pPr marL="1975104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5pPr>
      <a:lvl6pPr marL="2468880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6pPr>
      <a:lvl7pPr marL="2962656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7pPr>
      <a:lvl8pPr marL="3456432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8pPr>
      <a:lvl9pPr marL="3950208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5B0D41-F2EA-6F05-042B-CC1DCAE49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8C4FB-EB01-5BF8-355E-235E557D1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964" y="532867"/>
            <a:ext cx="8517910" cy="2386013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 err="1">
                <a:solidFill>
                  <a:schemeClr val="bg1"/>
                </a:solidFill>
              </a:rPr>
              <a:t>IceStat</a:t>
            </a:r>
            <a:r>
              <a:rPr lang="en-US" sz="5400" b="1" dirty="0">
                <a:solidFill>
                  <a:schemeClr val="bg1"/>
                </a:solidFill>
              </a:rPr>
              <a:t> Vision: How We’re Building Smarter Hockey Analytics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5" name="AutoShape 4" descr="Uploaded image">
            <a:extLst>
              <a:ext uri="{FF2B5EF4-FFF2-40B4-BE49-F238E27FC236}">
                <a16:creationId xmlns:a16="http://schemas.microsoft.com/office/drawing/2014/main" id="{39F7AD55-2326-A2D7-08EE-85EA7F5FAA7E}"/>
              </a:ext>
            </a:extLst>
          </p:cNvPr>
          <p:cNvSpPr>
            <a:spLocks noChangeAspect="1" noChangeArrowheads="1"/>
          </p:cNvSpPr>
          <p:nvPr/>
        </p:nvSpPr>
        <p:spPr bwMode="auto">
          <a:xfrm flipV="1">
            <a:off x="4784725" y="4375230"/>
            <a:ext cx="4468270" cy="4468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45F3130-3C6F-81E9-7EB7-4821C1BC99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229" y="11331615"/>
            <a:ext cx="2467208" cy="836342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472BB1C-4C7D-A321-EE0A-BE6A006FE33A}"/>
              </a:ext>
            </a:extLst>
          </p:cNvPr>
          <p:cNvSpPr txBox="1"/>
          <p:nvPr/>
        </p:nvSpPr>
        <p:spPr>
          <a:xfrm>
            <a:off x="879676" y="3793209"/>
            <a:ext cx="811648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solidFill>
                  <a:schemeClr val="bg1"/>
                </a:solidFill>
              </a:rPr>
              <a:t>IceStat</a:t>
            </a:r>
            <a:r>
              <a:rPr lang="en-US" sz="4000" dirty="0">
                <a:solidFill>
                  <a:schemeClr val="bg1"/>
                </a:solidFill>
              </a:rPr>
              <a:t> is built to meet coaches where they are today — and evolve alongside the game.</a:t>
            </a:r>
          </a:p>
          <a:p>
            <a:endParaRPr lang="en-US" sz="4000" dirty="0">
              <a:solidFill>
                <a:schemeClr val="bg1"/>
              </a:solidFill>
            </a:endParaRPr>
          </a:p>
          <a:p>
            <a:endParaRPr lang="en-US" sz="4000" dirty="0">
              <a:solidFill>
                <a:schemeClr val="bg1"/>
              </a:solidFill>
            </a:endParaRPr>
          </a:p>
          <a:p>
            <a:endParaRPr lang="en-US" sz="4000" dirty="0">
              <a:solidFill>
                <a:schemeClr val="bg1"/>
              </a:solidFill>
            </a:endParaRPr>
          </a:p>
          <a:p>
            <a:endParaRPr lang="en-US" sz="4000" dirty="0">
              <a:solidFill>
                <a:schemeClr val="bg1"/>
              </a:solidFill>
            </a:endParaRPr>
          </a:p>
          <a:p>
            <a:endParaRPr lang="en-US" sz="4000" dirty="0">
              <a:solidFill>
                <a:schemeClr val="bg1"/>
              </a:solidFill>
            </a:endParaRPr>
          </a:p>
          <a:p>
            <a:r>
              <a:rPr lang="en-US" sz="4000" dirty="0">
                <a:solidFill>
                  <a:schemeClr val="bg1"/>
                </a:solidFill>
              </a:rPr>
              <a:t>Here’s how that happens</a:t>
            </a:r>
            <a:r>
              <a:rPr lang="en-US" sz="4000" dirty="0"/>
              <a:t>👇</a:t>
            </a:r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5494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9FAD7-F221-BE04-28A8-1220B6DB5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964" y="244553"/>
            <a:ext cx="8517910" cy="2386013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</a:rPr>
              <a:t>V1 — Coach-Led, Insight-Driven (Launching First)</a:t>
            </a:r>
          </a:p>
        </p:txBody>
      </p:sp>
      <p:sp>
        <p:nvSpPr>
          <p:cNvPr id="5" name="AutoShape 4" descr="Uploaded image">
            <a:extLst>
              <a:ext uri="{FF2B5EF4-FFF2-40B4-BE49-F238E27FC236}">
                <a16:creationId xmlns:a16="http://schemas.microsoft.com/office/drawing/2014/main" id="{C4EC5797-461E-68E5-E746-034F3FF98803}"/>
              </a:ext>
            </a:extLst>
          </p:cNvPr>
          <p:cNvSpPr>
            <a:spLocks noChangeAspect="1" noChangeArrowheads="1"/>
          </p:cNvSpPr>
          <p:nvPr/>
        </p:nvSpPr>
        <p:spPr bwMode="auto">
          <a:xfrm flipV="1">
            <a:off x="4784725" y="3356044"/>
            <a:ext cx="4468270" cy="4468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C4947E9-B047-DF02-F99B-E27F729AE9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229" y="11331615"/>
            <a:ext cx="2467208" cy="836342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A2A1A9-93D5-788E-1296-9F59C6F61239}"/>
              </a:ext>
            </a:extLst>
          </p:cNvPr>
          <p:cNvSpPr txBox="1"/>
          <p:nvPr/>
        </p:nvSpPr>
        <p:spPr>
          <a:xfrm>
            <a:off x="879676" y="2630566"/>
            <a:ext cx="8116486" cy="7940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Coaches or assistants track key on-ice actions using a simple, standardized template.</a:t>
            </a:r>
          </a:p>
          <a:p>
            <a:r>
              <a:rPr lang="en-US" sz="3000" dirty="0">
                <a:solidFill>
                  <a:schemeClr val="bg1"/>
                </a:solidFill>
              </a:rPr>
              <a:t>That data is sent to </a:t>
            </a:r>
            <a:r>
              <a:rPr lang="en-US" sz="3000" dirty="0" err="1">
                <a:solidFill>
                  <a:schemeClr val="bg1"/>
                </a:solidFill>
              </a:rPr>
              <a:t>IceStat</a:t>
            </a:r>
            <a:r>
              <a:rPr lang="en-US" sz="3000" dirty="0">
                <a:solidFill>
                  <a:schemeClr val="bg1"/>
                </a:solidFill>
              </a:rPr>
              <a:t> and transformed into </a:t>
            </a:r>
            <a:r>
              <a:rPr lang="en-US" sz="3000" b="1" dirty="0">
                <a:solidFill>
                  <a:schemeClr val="bg1"/>
                </a:solidFill>
              </a:rPr>
              <a:t>clear, coaching-ready dashboards</a:t>
            </a:r>
            <a:r>
              <a:rPr lang="en-US" sz="3000" dirty="0">
                <a:solidFill>
                  <a:schemeClr val="bg1"/>
                </a:solidFill>
              </a:rPr>
              <a:t>.</a:t>
            </a:r>
          </a:p>
          <a:p>
            <a:endParaRPr lang="en-US" sz="3000" dirty="0">
              <a:solidFill>
                <a:schemeClr val="bg1"/>
              </a:solidFill>
            </a:endParaRPr>
          </a:p>
          <a:p>
            <a:r>
              <a:rPr lang="en-US" sz="3000" dirty="0">
                <a:solidFill>
                  <a:schemeClr val="bg1"/>
                </a:solidFill>
              </a:rPr>
              <a:t>What’s being tracked (examples):</a:t>
            </a:r>
          </a:p>
          <a:p>
            <a:pPr lvl="1"/>
            <a:r>
              <a:rPr lang="en-US" sz="3000" dirty="0">
                <a:solidFill>
                  <a:schemeClr val="bg1"/>
                </a:solidFill>
              </a:rPr>
              <a:t>• Zone entries &amp; exits (controlled vs uncontrolled)</a:t>
            </a:r>
          </a:p>
          <a:p>
            <a:pPr lvl="1"/>
            <a:r>
              <a:rPr lang="en-US" sz="3000" dirty="0">
                <a:solidFill>
                  <a:schemeClr val="bg1"/>
                </a:solidFill>
              </a:rPr>
              <a:t>• Shot attempts &amp; shot quality• Puck battles (wins / attempts)</a:t>
            </a:r>
          </a:p>
          <a:p>
            <a:pPr lvl="1"/>
            <a:r>
              <a:rPr lang="en-US" sz="3000" dirty="0">
                <a:solidFill>
                  <a:schemeClr val="bg1"/>
                </a:solidFill>
              </a:rPr>
              <a:t>• Turnovers &amp; recoveries</a:t>
            </a:r>
          </a:p>
          <a:p>
            <a:pPr lvl="1"/>
            <a:r>
              <a:rPr lang="en-US" sz="3000" dirty="0">
                <a:solidFill>
                  <a:schemeClr val="bg1"/>
                </a:solidFill>
              </a:rPr>
              <a:t>• Forecheck &amp; backcheck pressure events</a:t>
            </a:r>
          </a:p>
          <a:p>
            <a:pPr lvl="1"/>
            <a:r>
              <a:rPr lang="en-US" sz="3000" dirty="0">
                <a:solidFill>
                  <a:schemeClr val="bg1"/>
                </a:solidFill>
              </a:rPr>
              <a:t>• Time on ice, shifts, usage context</a:t>
            </a:r>
          </a:p>
          <a:p>
            <a:endParaRPr lang="en-US" sz="3000" dirty="0">
              <a:solidFill>
                <a:schemeClr val="bg1"/>
              </a:solidFill>
            </a:endParaRPr>
          </a:p>
          <a:p>
            <a:r>
              <a:rPr lang="en-US" sz="3000" dirty="0">
                <a:solidFill>
                  <a:schemeClr val="bg1"/>
                </a:solidFill>
              </a:rPr>
              <a:t>These aren’t “extra” stats — they’re the same things coaches already talk about.</a:t>
            </a:r>
          </a:p>
          <a:p>
            <a:r>
              <a:rPr lang="en-US" sz="3000" dirty="0" err="1">
                <a:solidFill>
                  <a:schemeClr val="bg1"/>
                </a:solidFill>
              </a:rPr>
              <a:t>IceStat</a:t>
            </a:r>
            <a:r>
              <a:rPr lang="en-US" sz="3000" dirty="0">
                <a:solidFill>
                  <a:schemeClr val="bg1"/>
                </a:solidFill>
              </a:rPr>
              <a:t> just organizes them objectively.</a:t>
            </a:r>
          </a:p>
        </p:txBody>
      </p:sp>
    </p:spTree>
    <p:extLst>
      <p:ext uri="{BB962C8B-B14F-4D97-AF65-F5344CB8AC3E}">
        <p14:creationId xmlns:p14="http://schemas.microsoft.com/office/powerpoint/2010/main" val="1234033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98A6B0-3DCA-A28A-2E47-809846A2C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DE933-4B95-5DEC-AAB5-1296B8EDB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964" y="244553"/>
            <a:ext cx="8517910" cy="2386013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</a:rPr>
              <a:t>A Version for Individual Players</a:t>
            </a:r>
          </a:p>
        </p:txBody>
      </p:sp>
      <p:sp>
        <p:nvSpPr>
          <p:cNvPr id="5" name="AutoShape 4" descr="Uploaded image">
            <a:extLst>
              <a:ext uri="{FF2B5EF4-FFF2-40B4-BE49-F238E27FC236}">
                <a16:creationId xmlns:a16="http://schemas.microsoft.com/office/drawing/2014/main" id="{1E3B4B4D-83D8-BC22-C4A0-45551983551F}"/>
              </a:ext>
            </a:extLst>
          </p:cNvPr>
          <p:cNvSpPr>
            <a:spLocks noChangeAspect="1" noChangeArrowheads="1"/>
          </p:cNvSpPr>
          <p:nvPr/>
        </p:nvSpPr>
        <p:spPr bwMode="auto">
          <a:xfrm flipV="1">
            <a:off x="4784725" y="3356044"/>
            <a:ext cx="4468270" cy="4468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8FD784C-B432-B2AC-099C-A401C6141B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229" y="11331615"/>
            <a:ext cx="2467208" cy="836342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60C004D-5DA1-E4BD-8007-4B1B1794B2F7}"/>
              </a:ext>
            </a:extLst>
          </p:cNvPr>
          <p:cNvSpPr txBox="1"/>
          <p:nvPr/>
        </p:nvSpPr>
        <p:spPr>
          <a:xfrm>
            <a:off x="879676" y="3741736"/>
            <a:ext cx="811648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err="1">
                <a:solidFill>
                  <a:schemeClr val="bg1"/>
                </a:solidFill>
              </a:rPr>
              <a:t>IceStat</a:t>
            </a:r>
            <a:r>
              <a:rPr lang="en-US" sz="3000" dirty="0">
                <a:solidFill>
                  <a:schemeClr val="bg1"/>
                </a:solidFill>
              </a:rPr>
              <a:t> isn’t just for the bench — it’s also for development.</a:t>
            </a:r>
          </a:p>
          <a:p>
            <a:endParaRPr lang="en-US" sz="3000" dirty="0">
              <a:solidFill>
                <a:schemeClr val="bg1"/>
              </a:solidFill>
            </a:endParaRPr>
          </a:p>
          <a:p>
            <a:r>
              <a:rPr lang="en-US" sz="3000" dirty="0">
                <a:solidFill>
                  <a:schemeClr val="bg1"/>
                </a:solidFill>
              </a:rPr>
              <a:t>Players receive simple, visual snapshots that show:</a:t>
            </a:r>
          </a:p>
          <a:p>
            <a:pPr lvl="1"/>
            <a:r>
              <a:rPr lang="en-US" sz="3000" dirty="0">
                <a:solidFill>
                  <a:schemeClr val="bg1"/>
                </a:solidFill>
              </a:rPr>
              <a:t>• Where they’re impacting the game</a:t>
            </a:r>
          </a:p>
          <a:p>
            <a:pPr lvl="1"/>
            <a:r>
              <a:rPr lang="en-US" sz="3000" dirty="0">
                <a:solidFill>
                  <a:schemeClr val="bg1"/>
                </a:solidFill>
              </a:rPr>
              <a:t>• What they do well consistently</a:t>
            </a:r>
          </a:p>
          <a:p>
            <a:pPr lvl="1"/>
            <a:r>
              <a:rPr lang="en-US" sz="3000" dirty="0">
                <a:solidFill>
                  <a:schemeClr val="bg1"/>
                </a:solidFill>
              </a:rPr>
              <a:t>• Where to focus between practices</a:t>
            </a:r>
          </a:p>
          <a:p>
            <a:pPr lvl="1"/>
            <a:r>
              <a:rPr lang="en-US" sz="3000" dirty="0">
                <a:solidFill>
                  <a:schemeClr val="bg1"/>
                </a:solidFill>
              </a:rPr>
              <a:t>• How their habits show up over time</a:t>
            </a:r>
          </a:p>
          <a:p>
            <a:endParaRPr lang="en-US" sz="3000" dirty="0">
              <a:solidFill>
                <a:schemeClr val="bg1"/>
              </a:solidFill>
            </a:endParaRPr>
          </a:p>
          <a:p>
            <a:r>
              <a:rPr lang="en-US" sz="3000" dirty="0">
                <a:solidFill>
                  <a:schemeClr val="bg1"/>
                </a:solidFill>
              </a:rPr>
              <a:t>The goal isn’t comparison — it’s clarity and accountability.</a:t>
            </a:r>
          </a:p>
        </p:txBody>
      </p:sp>
    </p:spTree>
    <p:extLst>
      <p:ext uri="{BB962C8B-B14F-4D97-AF65-F5344CB8AC3E}">
        <p14:creationId xmlns:p14="http://schemas.microsoft.com/office/powerpoint/2010/main" val="1714092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AD64EB-DBB3-B062-18DA-BB3812086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E86E5-452C-B23B-CB1D-454EEBA7E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70" y="176443"/>
            <a:ext cx="8517910" cy="2386013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</a:rPr>
              <a:t>V2 — Semi-Automated (Next Phase)</a:t>
            </a:r>
          </a:p>
        </p:txBody>
      </p:sp>
      <p:sp>
        <p:nvSpPr>
          <p:cNvPr id="5" name="AutoShape 4" descr="Uploaded image">
            <a:extLst>
              <a:ext uri="{FF2B5EF4-FFF2-40B4-BE49-F238E27FC236}">
                <a16:creationId xmlns:a16="http://schemas.microsoft.com/office/drawing/2014/main" id="{F01F7BD7-7220-A2DC-5E1A-453A0080C2D0}"/>
              </a:ext>
            </a:extLst>
          </p:cNvPr>
          <p:cNvSpPr>
            <a:spLocks noChangeAspect="1" noChangeArrowheads="1"/>
          </p:cNvSpPr>
          <p:nvPr/>
        </p:nvSpPr>
        <p:spPr bwMode="auto">
          <a:xfrm flipV="1">
            <a:off x="4784725" y="3356044"/>
            <a:ext cx="4468270" cy="4468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F1CF716-0D5D-4387-51AC-B500AA526E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229" y="11331615"/>
            <a:ext cx="2467208" cy="836342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966885-AF17-44EE-6C71-5F344AAD8F28}"/>
              </a:ext>
            </a:extLst>
          </p:cNvPr>
          <p:cNvSpPr txBox="1"/>
          <p:nvPr/>
        </p:nvSpPr>
        <p:spPr>
          <a:xfrm>
            <a:off x="1214545" y="4048541"/>
            <a:ext cx="714036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The same core stats — captured more efficiently.</a:t>
            </a:r>
          </a:p>
          <a:p>
            <a:endParaRPr lang="en-US" sz="3000" dirty="0">
              <a:solidFill>
                <a:schemeClr val="bg1"/>
              </a:solidFill>
            </a:endParaRPr>
          </a:p>
          <a:p>
            <a:pPr lvl="1"/>
            <a:r>
              <a:rPr lang="en-US" sz="3000" dirty="0">
                <a:solidFill>
                  <a:schemeClr val="bg1"/>
                </a:solidFill>
              </a:rPr>
              <a:t>• Faster data turnaround</a:t>
            </a:r>
          </a:p>
          <a:p>
            <a:pPr lvl="1"/>
            <a:r>
              <a:rPr lang="en-US" sz="3000" dirty="0">
                <a:solidFill>
                  <a:schemeClr val="bg1"/>
                </a:solidFill>
              </a:rPr>
              <a:t>• More consistency across games</a:t>
            </a:r>
          </a:p>
          <a:p>
            <a:pPr lvl="1"/>
            <a:r>
              <a:rPr lang="en-US" sz="3000" dirty="0">
                <a:solidFill>
                  <a:schemeClr val="bg1"/>
                </a:solidFill>
              </a:rPr>
              <a:t>• Less manual work for staff</a:t>
            </a:r>
          </a:p>
          <a:p>
            <a:pPr lvl="1"/>
            <a:r>
              <a:rPr lang="en-US" sz="3000" dirty="0">
                <a:solidFill>
                  <a:schemeClr val="bg1"/>
                </a:solidFill>
              </a:rPr>
              <a:t>• Cleaner inputs → stronger insights</a:t>
            </a:r>
          </a:p>
          <a:p>
            <a:endParaRPr lang="en-US" sz="3000" dirty="0">
              <a:solidFill>
                <a:schemeClr val="bg1"/>
              </a:solidFill>
            </a:endParaRPr>
          </a:p>
          <a:p>
            <a:r>
              <a:rPr lang="en-US" sz="3000" dirty="0">
                <a:solidFill>
                  <a:schemeClr val="bg1"/>
                </a:solidFill>
              </a:rPr>
              <a:t>The goal: </a:t>
            </a:r>
            <a:r>
              <a:rPr lang="en-US" sz="3000" b="1" dirty="0">
                <a:solidFill>
                  <a:schemeClr val="bg1"/>
                </a:solidFill>
              </a:rPr>
              <a:t>less tracking, more coaching.</a:t>
            </a:r>
          </a:p>
        </p:txBody>
      </p:sp>
    </p:spTree>
    <p:extLst>
      <p:ext uri="{BB962C8B-B14F-4D97-AF65-F5344CB8AC3E}">
        <p14:creationId xmlns:p14="http://schemas.microsoft.com/office/powerpoint/2010/main" val="2351003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026DC7-26BF-68C5-DF94-F3118D5FA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46649-521A-3418-6C2C-6B948ADB5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70" y="232050"/>
            <a:ext cx="8517910" cy="1637271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</a:rPr>
              <a:t>V3 — AI-Assisted (Future)</a:t>
            </a:r>
          </a:p>
        </p:txBody>
      </p:sp>
      <p:sp>
        <p:nvSpPr>
          <p:cNvPr id="5" name="AutoShape 4" descr="Uploaded image">
            <a:extLst>
              <a:ext uri="{FF2B5EF4-FFF2-40B4-BE49-F238E27FC236}">
                <a16:creationId xmlns:a16="http://schemas.microsoft.com/office/drawing/2014/main" id="{68834E69-F4F6-436C-3676-A11FF73C4AF7}"/>
              </a:ext>
            </a:extLst>
          </p:cNvPr>
          <p:cNvSpPr>
            <a:spLocks noChangeAspect="1" noChangeArrowheads="1"/>
          </p:cNvSpPr>
          <p:nvPr/>
        </p:nvSpPr>
        <p:spPr bwMode="auto">
          <a:xfrm flipV="1">
            <a:off x="4784725" y="3356044"/>
            <a:ext cx="4468270" cy="4468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8C65290-8B94-FAF1-2F3D-83BD7CE3BB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229" y="11331615"/>
            <a:ext cx="2467208" cy="836342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F2F60D-E109-563C-E75B-BDC0167BF73B}"/>
              </a:ext>
            </a:extLst>
          </p:cNvPr>
          <p:cNvSpPr txBox="1"/>
          <p:nvPr/>
        </p:nvSpPr>
        <p:spPr>
          <a:xfrm>
            <a:off x="726482" y="3356044"/>
            <a:ext cx="8116486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Long-term, </a:t>
            </a:r>
            <a:r>
              <a:rPr lang="en-US" sz="3000" dirty="0" err="1">
                <a:solidFill>
                  <a:schemeClr val="bg1"/>
                </a:solidFill>
              </a:rPr>
              <a:t>IceStat</a:t>
            </a:r>
            <a:r>
              <a:rPr lang="en-US" sz="3000" dirty="0">
                <a:solidFill>
                  <a:schemeClr val="bg1"/>
                </a:solidFill>
              </a:rPr>
              <a:t> moves toward AI-supported video review.</a:t>
            </a:r>
          </a:p>
          <a:p>
            <a:endParaRPr lang="en-US" sz="3000" dirty="0">
              <a:solidFill>
                <a:schemeClr val="bg1"/>
              </a:solidFill>
            </a:endParaRPr>
          </a:p>
          <a:p>
            <a:pPr lvl="1"/>
            <a:r>
              <a:rPr lang="en-US" sz="3000" dirty="0">
                <a:solidFill>
                  <a:schemeClr val="bg1"/>
                </a:solidFill>
              </a:rPr>
              <a:t>• Automated stat classification from video</a:t>
            </a:r>
          </a:p>
          <a:p>
            <a:pPr lvl="1"/>
            <a:r>
              <a:rPr lang="en-US" sz="3000" dirty="0">
                <a:solidFill>
                  <a:schemeClr val="bg1"/>
                </a:solidFill>
              </a:rPr>
              <a:t>• Pattern detection across games</a:t>
            </a:r>
          </a:p>
          <a:p>
            <a:pPr lvl="1"/>
            <a:r>
              <a:rPr lang="en-US" sz="3000" dirty="0">
                <a:solidFill>
                  <a:schemeClr val="bg1"/>
                </a:solidFill>
              </a:rPr>
              <a:t>• Player tendencies that go beyond the eye test</a:t>
            </a:r>
          </a:p>
          <a:p>
            <a:pPr lvl="1"/>
            <a:r>
              <a:rPr lang="en-US" sz="3000" dirty="0">
                <a:solidFill>
                  <a:schemeClr val="bg1"/>
                </a:solidFill>
              </a:rPr>
              <a:t>• Scalable insights without adding staff hours</a:t>
            </a:r>
          </a:p>
          <a:p>
            <a:endParaRPr lang="en-US" sz="3000" dirty="0">
              <a:solidFill>
                <a:schemeClr val="bg1"/>
              </a:solidFill>
            </a:endParaRPr>
          </a:p>
          <a:p>
            <a:r>
              <a:rPr lang="en-US" sz="3000" dirty="0">
                <a:solidFill>
                  <a:schemeClr val="bg1"/>
                </a:solidFill>
              </a:rPr>
              <a:t>Human hockey knowledge, enhanced by machine consistency.</a:t>
            </a:r>
          </a:p>
        </p:txBody>
      </p:sp>
    </p:spTree>
    <p:extLst>
      <p:ext uri="{BB962C8B-B14F-4D97-AF65-F5344CB8AC3E}">
        <p14:creationId xmlns:p14="http://schemas.microsoft.com/office/powerpoint/2010/main" val="3292402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EE4D97-4D9E-F80B-3BA7-F6A4A220E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76907-B52E-F553-4581-C4633A192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964" y="176443"/>
            <a:ext cx="8517910" cy="2386013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</a:rPr>
              <a:t>At every stage, the philosophy stays the same:</a:t>
            </a:r>
          </a:p>
        </p:txBody>
      </p:sp>
      <p:sp>
        <p:nvSpPr>
          <p:cNvPr id="5" name="AutoShape 4" descr="Uploaded image">
            <a:extLst>
              <a:ext uri="{FF2B5EF4-FFF2-40B4-BE49-F238E27FC236}">
                <a16:creationId xmlns:a16="http://schemas.microsoft.com/office/drawing/2014/main" id="{DF5D7021-5477-A044-C51D-08E67D2BE8E7}"/>
              </a:ext>
            </a:extLst>
          </p:cNvPr>
          <p:cNvSpPr>
            <a:spLocks noChangeAspect="1" noChangeArrowheads="1"/>
          </p:cNvSpPr>
          <p:nvPr/>
        </p:nvSpPr>
        <p:spPr bwMode="auto">
          <a:xfrm flipV="1">
            <a:off x="4784725" y="3356044"/>
            <a:ext cx="4468270" cy="4468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E9EB62F-E0E2-0630-AA0C-5269EFE9A5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229" y="11331615"/>
            <a:ext cx="2467208" cy="836342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78A777-22C8-D35D-A5BE-B0ADA460644C}"/>
              </a:ext>
            </a:extLst>
          </p:cNvPr>
          <p:cNvSpPr txBox="1"/>
          <p:nvPr/>
        </p:nvSpPr>
        <p:spPr>
          <a:xfrm>
            <a:off x="879676" y="3356044"/>
            <a:ext cx="8116486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000" dirty="0">
              <a:solidFill>
                <a:schemeClr val="bg1"/>
              </a:solidFill>
            </a:endParaRPr>
          </a:p>
          <a:p>
            <a:r>
              <a:rPr lang="en-US" sz="3000" dirty="0">
                <a:solidFill>
                  <a:schemeClr val="bg1"/>
                </a:solidFill>
              </a:rPr>
              <a:t>Analytics should </a:t>
            </a:r>
            <a:r>
              <a:rPr lang="en-US" sz="3000" i="1" dirty="0">
                <a:solidFill>
                  <a:schemeClr val="bg1"/>
                </a:solidFill>
              </a:rPr>
              <a:t>simplify</a:t>
            </a:r>
            <a:r>
              <a:rPr lang="en-US" sz="3000" dirty="0">
                <a:solidFill>
                  <a:schemeClr val="bg1"/>
                </a:solidFill>
              </a:rPr>
              <a:t> decisions — not complicate them.</a:t>
            </a:r>
          </a:p>
          <a:p>
            <a:endParaRPr lang="en-US" sz="3000" dirty="0">
              <a:solidFill>
                <a:schemeClr val="bg1"/>
              </a:solidFill>
            </a:endParaRPr>
          </a:p>
          <a:p>
            <a:endParaRPr lang="en-US" sz="3000" dirty="0">
              <a:solidFill>
                <a:schemeClr val="bg1"/>
              </a:solidFill>
            </a:endParaRPr>
          </a:p>
          <a:p>
            <a:endParaRPr lang="en-US" sz="3000" dirty="0">
              <a:solidFill>
                <a:schemeClr val="bg1"/>
              </a:solidFill>
            </a:endParaRPr>
          </a:p>
          <a:p>
            <a:endParaRPr lang="en-US" sz="3000" dirty="0">
              <a:solidFill>
                <a:schemeClr val="bg1"/>
              </a:solidFill>
            </a:endParaRPr>
          </a:p>
          <a:p>
            <a:endParaRPr lang="en-US" sz="3000" dirty="0">
              <a:solidFill>
                <a:schemeClr val="bg1"/>
              </a:solidFill>
            </a:endParaRPr>
          </a:p>
          <a:p>
            <a:endParaRPr lang="en-US" sz="3000" dirty="0">
              <a:solidFill>
                <a:schemeClr val="bg1"/>
              </a:solidFill>
            </a:endParaRPr>
          </a:p>
          <a:p>
            <a:endParaRPr lang="en-US" sz="3000" dirty="0">
              <a:solidFill>
                <a:schemeClr val="bg1"/>
              </a:solidFill>
            </a:endParaRPr>
          </a:p>
          <a:p>
            <a:r>
              <a:rPr lang="en-US" sz="3000" dirty="0" err="1">
                <a:solidFill>
                  <a:schemeClr val="bg1"/>
                </a:solidFill>
              </a:rPr>
              <a:t>IceStat</a:t>
            </a:r>
            <a:r>
              <a:rPr lang="en-US" sz="3000" dirty="0">
                <a:solidFill>
                  <a:schemeClr val="bg1"/>
                </a:solidFill>
              </a:rPr>
              <a:t> is coming soon — built with coaches, for real benches, real games, and real development.</a:t>
            </a:r>
          </a:p>
        </p:txBody>
      </p:sp>
    </p:spTree>
    <p:extLst>
      <p:ext uri="{BB962C8B-B14F-4D97-AF65-F5344CB8AC3E}">
        <p14:creationId xmlns:p14="http://schemas.microsoft.com/office/powerpoint/2010/main" val="1965146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6DBAD47DAE2549A25534424885B22B" ma:contentTypeVersion="4" ma:contentTypeDescription="Create a new document." ma:contentTypeScope="" ma:versionID="c1cf978bbfc1e7af0b71e18e789d0ad2">
  <xsd:schema xmlns:xsd="http://www.w3.org/2001/XMLSchema" xmlns:xs="http://www.w3.org/2001/XMLSchema" xmlns:p="http://schemas.microsoft.com/office/2006/metadata/properties" xmlns:ns3="41552314-f0a9-45db-93c5-eb7fa7005294" targetNamespace="http://schemas.microsoft.com/office/2006/metadata/properties" ma:root="true" ma:fieldsID="09d0c0800a9ebc5116ce44ca3215b09e" ns3:_="">
    <xsd:import namespace="41552314-f0a9-45db-93c5-eb7fa7005294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552314-f0a9-45db-93c5-eb7fa7005294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9042CA2-452A-4253-9EFE-7B64D16FC01D}">
  <ds:schemaRefs>
    <ds:schemaRef ds:uri="http://purl.org/dc/terms/"/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41552314-f0a9-45db-93c5-eb7fa7005294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85979F7E-6230-4DBD-9299-08BCD676F50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2AFD331-9516-419E-AB0C-268D9EEDC153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1552314-f0a9-45db-93c5-eb7fa7005294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4204</TotalTime>
  <Words>337</Words>
  <Application>Microsoft Office PowerPoint</Application>
  <PresentationFormat>Custom</PresentationFormat>
  <Paragraphs>60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IceStat Vision: How We’re Building Smarter Hockey Analytics</vt:lpstr>
      <vt:lpstr>V1 — Coach-Led, Insight-Driven (Launching First)</vt:lpstr>
      <vt:lpstr>A Version for Individual Players</vt:lpstr>
      <vt:lpstr>V2 — Semi-Automated (Next Phase)</vt:lpstr>
      <vt:lpstr>V3 — AI-Assisted (Future)</vt:lpstr>
      <vt:lpstr>At every stage, the philosophy stays the same: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Brent Breslin</dc:creator>
  <cp:lastModifiedBy>Brent Breslin</cp:lastModifiedBy>
  <cp:revision>9</cp:revision>
  <dcterms:created xsi:type="dcterms:W3CDTF">2025-12-07T14:07:30Z</dcterms:created>
  <dcterms:modified xsi:type="dcterms:W3CDTF">2025-12-22T18:09:17Z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0x0101005E6DBAD47DAE2549A25534424885B22B</vt:lpwstr>
  </property>
</Properties>
</file>